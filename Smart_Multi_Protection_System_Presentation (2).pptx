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er 1 — Tahomid Uddin" id="{a7e9a0a6-4853-6a4f-e519-c933e0eb667e}">
          <p14:sldIdLst>
            <p14:sldId id="256"/>
            <p14:sldId id="257"/>
          </p14:sldIdLst>
        </p14:section>
        <p14:section name="Presenter 2 — Shams Mohammed Suha Chowdhury" id="{8424e3b5-c116-cc32-5d57-7e888c0a7ea0}">
          <p14:sldIdLst>
            <p14:sldId id="258"/>
            <p14:sldId id="259"/>
          </p14:sldIdLst>
        </p14:section>
        <p14:section name="Presenter 3 — Farhan Rakeen" id="{e069ac26-4988-bd84-d403-eee3c6521abb}">
          <p14:sldIdLst>
            <p14:sldId id="260"/>
            <p14:sldId id="261"/>
          </p14:sldIdLst>
        </p14:section>
        <p14:section name="Presenter 4 — Ahmed Eyenun Nishat" id="{3d23a9ba-fc36-e232-f3e3-2c52f04dc32c}">
          <p14:sldIdLst>
            <p14:sldId id="262"/>
            <p14:sldId id="263"/>
          </p14:sldIdLst>
        </p14:section>
        <p14:section name="Presenter 5 — Tausif Naim Jami" id="{95260e03-4d87-c141-c301-c9d395d8265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38404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EEE 4252 · Power System Protection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Smart Multi-Protection System: Load-wise Fault Isolation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2628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EEE 4252 · POWER SYSTEM PROTECTION LAB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868680"/>
            <a:ext cx="3749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Smart Multi-Protection System: Load-wise Fault Isolation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8686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Smart Multi-Protection System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Load-wise Fault Isolation</a:t>
            </a:r>
            <a:endParaRPr lang="en-US" sz="2000" dirty="0"/>
          </a:p>
        </p:txBody>
      </p:sp>
      <p:sp>
        <p:nvSpPr>
          <p:cNvPr id="4" name="Tagline"/>
          <p:cNvSpPr txBox="1"/>
          <p:nvPr/>
        </p:nvSpPr>
        <p:spPr>
          <a:xfrm>
            <a:off x="45720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Individual trip in every branch</a:t>
            </a:r>
            <a:endParaRPr lang="en-US" sz="1400" dirty="0"/>
          </a:p>
        </p:txBody>
      </p:sp>
      <p:sp>
        <p:nvSpPr>
          <p:cNvPr id="5" name="Members label"/>
          <p:cNvSpPr txBox="1"/>
          <p:nvPr/>
        </p:nvSpPr>
        <p:spPr>
          <a:xfrm>
            <a:off x="457200" y="3200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SUBMITTED BY</a:t>
            </a:r>
            <a:endParaRPr lang="en-US" sz="1200" dirty="0"/>
          </a:p>
        </p:txBody>
      </p:sp>
      <p:sp>
        <p:nvSpPr>
          <p:cNvPr id="6" name="Members"/>
          <p:cNvSpPr txBox="1"/>
          <p:nvPr/>
        </p:nvSpPr>
        <p:spPr>
          <a:xfrm>
            <a:off x="457200" y="3474720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1. Tahomid Uddin (20220105152)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2. Shams Mohammed Suha Chowdhury (20220105172)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3. Farhan Rakeen (20220105173)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4. Ahmed Eyenun Nishat (20220105237)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5. Tausif Naim Jami (20220105245)</a:t>
            </a:r>
            <a:endParaRPr lang="en-US" sz="1300" dirty="0"/>
          </a:p>
        </p:txBody>
      </p:sp>
      <p:sp>
        <p:nvSpPr>
          <p:cNvPr id="7" name="Supervisors label"/>
          <p:cNvSpPr txBox="1"/>
          <p:nvPr/>
        </p:nvSpPr>
        <p:spPr>
          <a:xfrm>
            <a:off x="457200" y="5074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SUBMITTED TO</a:t>
            </a:r>
            <a:endParaRPr lang="en-US" sz="1200" dirty="0"/>
          </a:p>
        </p:txBody>
      </p:sp>
      <p:sp>
        <p:nvSpPr>
          <p:cNvPr id="8" name="Supervisors"/>
          <p:cNvSpPr txBox="1"/>
          <p:nvPr/>
        </p:nvSpPr>
        <p:spPr>
          <a:xfrm>
            <a:off x="457200" y="5349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Mr. Md. Abdullah-Al-Mamun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Mr. Md. Sadman Amir</a:t>
            </a:r>
            <a:endParaRPr lang="en-US" sz="1400" dirty="0"/>
          </a:p>
        </p:txBody>
      </p:sp>
      <p:sp>
        <p:nvSpPr>
          <p:cNvPr id="9" name="Class info"/>
          <p:cNvSpPr txBox="1"/>
          <p:nvPr/>
        </p:nvSpPr>
        <p:spPr>
          <a:xfrm>
            <a:off x="457200" y="6035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4th Year · 2nd Semester · Section CD</a:t>
            </a:r>
            <a:endParaRPr lang="en-US" sz="1300" dirty="0"/>
          </a:p>
        </p:txBody>
      </p:sp>
      <p:sp>
        <p:nvSpPr>
          <p:cNvPr id="10" name="Presenter chip"/>
          <p:cNvSpPr/>
          <p:nvPr/>
        </p:nvSpPr>
        <p:spPr>
          <a:xfrm>
            <a:off x="5029200" y="457200"/>
            <a:ext cx="420624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1" name="Presenter label"/>
          <p:cNvSpPr txBox="1"/>
          <p:nvPr/>
        </p:nvSpPr>
        <p:spPr>
          <a:xfrm>
            <a:off x="5029200" y="457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1 — Tahomid Uddin (20220105152)</a:t>
            </a:r>
            <a:endParaRPr lang="en-US" sz="1300" dirty="0"/>
          </a:p>
        </p:txBody>
      </p:sp>
      <p:sp>
        <p:nvSpPr>
          <p:cNvPr id="12" name="Slide heading"/>
          <p:cNvSpPr txBox="1"/>
          <p:nvPr/>
        </p:nvSpPr>
        <p:spPr>
          <a:xfrm>
            <a:off x="5029200" y="960120"/>
            <a:ext cx="670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Introduction and Background</a:t>
            </a:r>
            <a:endParaRPr lang="en-US" sz="3000" dirty="0"/>
          </a:p>
        </p:txBody>
      </p:sp>
      <p:sp>
        <p:nvSpPr>
          <p:cNvPr id="13" name="Introduction text"/>
          <p:cNvSpPr txBox="1"/>
          <p:nvPr/>
        </p:nvSpPr>
        <p:spPr>
          <a:xfrm>
            <a:off x="5029200" y="1691640"/>
            <a:ext cx="67025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problem: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 a conventional distribution setup, a fault in one load can force a common breaker to disconnect everything.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Our objective: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low-cost, Arduino-based system that monitors four load branches, each with its own ACS712-5A current sensor and its own relay channel.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does: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it detects overload and line-to-ground (short-circuit) faults, trips only the faulty branch, sends an SMS alert through a GSM module and shows branch status on a 16×2 LCD.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The result: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healthy branches keep running. This is load-wise fault isolation.</a:t>
            </a:r>
            <a:endParaRPr lang="en-US" sz="1600" dirty="0"/>
          </a:p>
        </p:txBody>
      </p:sp>
      <p:sp>
        <p:nvSpPr>
          <p:cNvPr id="14" name="Flow label"/>
          <p:cNvSpPr txBox="1"/>
          <p:nvPr/>
        </p:nvSpPr>
        <p:spPr>
          <a:xfrm>
            <a:off x="5029200" y="4407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SYSTEM AT A GLANCE</a:t>
            </a:r>
            <a:endParaRPr lang="en-US" sz="1200" dirty="0"/>
          </a:p>
        </p:txBody>
      </p:sp>
      <p:sp>
        <p:nvSpPr>
          <p:cNvPr id="15" name="Flow card 1"/>
          <p:cNvSpPr/>
          <p:nvPr/>
        </p:nvSpPr>
        <p:spPr>
          <a:xfrm>
            <a:off x="5029200" y="4709160"/>
            <a:ext cx="1417320" cy="155448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Flow title 1"/>
          <p:cNvSpPr txBox="1"/>
          <p:nvPr/>
        </p:nvSpPr>
        <p:spPr>
          <a:xfrm>
            <a:off x="5120640" y="4773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 220 V supply</a:t>
            </a:r>
            <a:endParaRPr lang="en-US" sz="1400" dirty="0"/>
          </a:p>
        </p:txBody>
      </p:sp>
      <p:sp>
        <p:nvSpPr>
          <p:cNvPr id="17" name="Flow text 1"/>
          <p:cNvSpPr txBox="1"/>
          <p:nvPr/>
        </p:nvSpPr>
        <p:spPr>
          <a:xfrm>
            <a:off x="5120640" y="5257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Four parallel branches</a:t>
            </a:r>
            <a:endParaRPr lang="en-US" sz="1200" dirty="0"/>
          </a:p>
        </p:txBody>
      </p:sp>
      <p:sp>
        <p:nvSpPr>
          <p:cNvPr id="18" name="Flow arrow 1"/>
          <p:cNvSpPr/>
          <p:nvPr/>
        </p:nvSpPr>
        <p:spPr>
          <a:xfrm>
            <a:off x="6492240" y="5376672"/>
            <a:ext cx="252984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9" name="Flow card 2"/>
          <p:cNvSpPr/>
          <p:nvPr/>
        </p:nvSpPr>
        <p:spPr>
          <a:xfrm>
            <a:off x="6790944" y="4709160"/>
            <a:ext cx="1417320" cy="155448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Flow title 2"/>
          <p:cNvSpPr txBox="1"/>
          <p:nvPr/>
        </p:nvSpPr>
        <p:spPr>
          <a:xfrm>
            <a:off x="6882384" y="4773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ACS712-5A × 4</a:t>
            </a:r>
            <a:endParaRPr lang="en-US" sz="1400" dirty="0"/>
          </a:p>
        </p:txBody>
      </p:sp>
      <p:sp>
        <p:nvSpPr>
          <p:cNvPr id="21" name="Flow text 2"/>
          <p:cNvSpPr txBox="1"/>
          <p:nvPr/>
        </p:nvSpPr>
        <p:spPr>
          <a:xfrm>
            <a:off x="6882384" y="5257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current sensor per branch</a:t>
            </a:r>
            <a:endParaRPr lang="en-US" sz="1200" dirty="0"/>
          </a:p>
        </p:txBody>
      </p:sp>
      <p:sp>
        <p:nvSpPr>
          <p:cNvPr id="22" name="Flow arrow 2"/>
          <p:cNvSpPr/>
          <p:nvPr/>
        </p:nvSpPr>
        <p:spPr>
          <a:xfrm>
            <a:off x="8253984" y="5376672"/>
            <a:ext cx="252984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Flow card 3"/>
          <p:cNvSpPr/>
          <p:nvPr/>
        </p:nvSpPr>
        <p:spPr>
          <a:xfrm>
            <a:off x="8552688" y="4709160"/>
            <a:ext cx="1417320" cy="155448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Flow title 3"/>
          <p:cNvSpPr txBox="1"/>
          <p:nvPr/>
        </p:nvSpPr>
        <p:spPr>
          <a:xfrm>
            <a:off x="8644128" y="4773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Arduino UNO</a:t>
            </a:r>
            <a:endParaRPr lang="en-US" sz="1400" dirty="0"/>
          </a:p>
        </p:txBody>
      </p:sp>
      <p:sp>
        <p:nvSpPr>
          <p:cNvPr id="25" name="Flow text 3"/>
          <p:cNvSpPr txBox="1"/>
          <p:nvPr/>
        </p:nvSpPr>
        <p:spPr>
          <a:xfrm>
            <a:off x="8644128" y="5257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Threshold comparison and trip command</a:t>
            </a:r>
            <a:endParaRPr lang="en-US" sz="1200" dirty="0"/>
          </a:p>
        </p:txBody>
      </p:sp>
      <p:sp>
        <p:nvSpPr>
          <p:cNvPr id="26" name="Flow arrow 3"/>
          <p:cNvSpPr/>
          <p:nvPr/>
        </p:nvSpPr>
        <p:spPr>
          <a:xfrm>
            <a:off x="10015728" y="5376672"/>
            <a:ext cx="252984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7" name="Flow card 4"/>
          <p:cNvSpPr/>
          <p:nvPr/>
        </p:nvSpPr>
        <p:spPr>
          <a:xfrm>
            <a:off x="10314432" y="4709160"/>
            <a:ext cx="1417320" cy="155448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Flow title 4"/>
          <p:cNvSpPr txBox="1"/>
          <p:nvPr/>
        </p:nvSpPr>
        <p:spPr>
          <a:xfrm>
            <a:off x="10405872" y="4773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Relay + LCD + SMS</a:t>
            </a:r>
            <a:endParaRPr lang="en-US" sz="1400" dirty="0"/>
          </a:p>
        </p:txBody>
      </p:sp>
      <p:sp>
        <p:nvSpPr>
          <p:cNvPr id="29" name="Flow text 4"/>
          <p:cNvSpPr txBox="1"/>
          <p:nvPr/>
        </p:nvSpPr>
        <p:spPr>
          <a:xfrm>
            <a:off x="10405872" y="5257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Branch trip, status, GSM alert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Theory: Over-current Protection and Selectivity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3852367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3852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1 — Tahomid Uddin (20220105152)</a:t>
            </a:r>
            <a:endParaRPr lang="en-US" sz="1300" dirty="0"/>
          </a:p>
        </p:txBody>
      </p:sp>
      <p:sp>
        <p:nvSpPr>
          <p:cNvPr id="5" name="Theory card"/>
          <p:cNvSpPr/>
          <p:nvPr/>
        </p:nvSpPr>
        <p:spPr>
          <a:xfrm>
            <a:off x="457200" y="1417320"/>
            <a:ext cx="5760720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heory icon bg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heory icon" descr="Core protection the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37744" cy="237744"/>
          </a:xfrm>
          <a:prstGeom prst="rect">
            <a:avLst/>
          </a:prstGeom>
        </p:spPr>
      </p:pic>
      <p:sp>
        <p:nvSpPr>
          <p:cNvPr id="8" name="Theory heading"/>
          <p:cNvSpPr txBox="1"/>
          <p:nvPr/>
        </p:nvSpPr>
        <p:spPr>
          <a:xfrm>
            <a:off x="123444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Core protection theory</a:t>
            </a:r>
            <a:endParaRPr lang="en-US" sz="1800" dirty="0"/>
          </a:p>
        </p:txBody>
      </p:sp>
      <p:sp>
        <p:nvSpPr>
          <p:cNvPr id="9" name="Theory bullets"/>
          <p:cNvSpPr txBox="1"/>
          <p:nvPr/>
        </p:nvSpPr>
        <p:spPr>
          <a:xfrm>
            <a:off x="731520" y="2194560"/>
            <a:ext cx="52578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Over-current protection operates when current rises above a selected pickup value, and it must clear the abnormal condition before conductors or equipment are damaged.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Selectivity means the device closest to the fault trips first. Here, the relay of the affected branch is the primary isolating element.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relay isolates a load by opening its contact. The Arduino never carries load current; it only sends a low-voltage control signal to the relay module.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Healthy branches stay energized because only one relay opens. This is the key difference from a single common trip for the whole model.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line-to-ground fault draws a very high current and needs near-instant tripping, whereas an overload is cleared once its threshold is crossed.</a:t>
            </a:r>
            <a:endParaRPr lang="en-US" sz="1500" dirty="0"/>
          </a:p>
        </p:txBody>
      </p:sp>
      <p:sp>
        <p:nvSpPr>
          <p:cNvPr id="10" name="Equation card"/>
          <p:cNvSpPr/>
          <p:nvPr/>
        </p:nvSpPr>
        <p:spPr>
          <a:xfrm>
            <a:off x="6400800" y="1417320"/>
            <a:ext cx="5330952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Equations icon bg"/>
          <p:cNvSpPr/>
          <p:nvPr/>
        </p:nvSpPr>
        <p:spPr>
          <a:xfrm>
            <a:off x="6629400" y="1600200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Equations icon" descr="Key equ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237744" cy="237744"/>
          </a:xfrm>
          <a:prstGeom prst="rect">
            <a:avLst/>
          </a:prstGeom>
        </p:spPr>
      </p:pic>
      <p:sp>
        <p:nvSpPr>
          <p:cNvPr id="13" name="Equations heading"/>
          <p:cNvSpPr txBox="1"/>
          <p:nvPr/>
        </p:nvSpPr>
        <p:spPr>
          <a:xfrm>
            <a:off x="717804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equations</a:t>
            </a:r>
            <a:endParaRPr lang="en-US" sz="1800" dirty="0"/>
          </a:p>
        </p:txBody>
      </p:sp>
      <p:sp>
        <p:nvSpPr>
          <p:cNvPr id="14" name="Equation RMS"/>
          <p:cNvSpPr txBox="1"/>
          <p:nvPr/>
        </p:nvSpPr>
        <p:spPr>
          <a:xfrm>
            <a:off x="667512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</a:t>
            </a:r>
            <a:pPr indent="0" marL="0">
              <a:buNone/>
            </a:pPr>
            <a:r>
              <a:rPr lang="en-US" sz="2000" b="1" baseline="-40000" dirty="0">
                <a:solidFill>
                  <a:schemeClr val="tx2"/>
                </a:solidFill>
              </a:rPr>
              <a:t>rms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= √[ (1/N) Σ i</a:t>
            </a:r>
            <a:pPr indent="0" marL="0">
              <a:buNone/>
            </a:pPr>
            <a:r>
              <a:rPr lang="en-US" sz="2000" b="1" baseline="-40000" dirty="0">
                <a:solidFill>
                  <a:schemeClr val="tx2"/>
                </a:solidFill>
              </a:rPr>
              <a:t>k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² ]</a:t>
            </a:r>
            <a:endParaRPr lang="en-US" sz="2000" dirty="0"/>
          </a:p>
        </p:txBody>
      </p:sp>
      <p:sp>
        <p:nvSpPr>
          <p:cNvPr id="15" name="Equation RMS note"/>
          <p:cNvSpPr txBox="1"/>
          <p:nvPr/>
        </p:nvSpPr>
        <p:spPr>
          <a:xfrm>
            <a:off x="6675120" y="2468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 = instantaneous current sample; N = samples in one window</a:t>
            </a:r>
            <a:endParaRPr lang="en-US" sz="1200" dirty="0"/>
          </a:p>
        </p:txBody>
      </p:sp>
      <p:sp>
        <p:nvSpPr>
          <p:cNvPr id="16" name="Equation current"/>
          <p:cNvSpPr txBox="1"/>
          <p:nvPr/>
        </p:nvSpPr>
        <p:spPr>
          <a:xfrm>
            <a:off x="667512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 = (V</a:t>
            </a:r>
            <a:pPr indent="0" marL="0">
              <a:buNone/>
            </a:pPr>
            <a:r>
              <a:rPr lang="en-US" sz="2000" b="1" baseline="-40000" dirty="0">
                <a:solidFill>
                  <a:schemeClr val="tx2"/>
                </a:solidFill>
              </a:rPr>
              <a:t>ADC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− V</a:t>
            </a:r>
            <a:pPr indent="0" marL="0">
              <a:buNone/>
            </a:pPr>
            <a:r>
              <a:rPr lang="en-US" sz="2000" b="1" baseline="-40000" dirty="0">
                <a:solidFill>
                  <a:schemeClr val="tx2"/>
                </a:solidFill>
              </a:rPr>
              <a:t>0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) / K</a:t>
            </a:r>
            <a:endParaRPr lang="en-US" sz="2000" dirty="0"/>
          </a:p>
        </p:txBody>
      </p:sp>
      <p:sp>
        <p:nvSpPr>
          <p:cNvPr id="17" name="Equation current note"/>
          <p:cNvSpPr txBox="1"/>
          <p:nvPr/>
        </p:nvSpPr>
        <p:spPr>
          <a:xfrm>
            <a:off x="6675120" y="309067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V₀ = zero-current offset; K = calibrated sensitivity (found by testing)</a:t>
            </a:r>
            <a:endParaRPr lang="en-US" sz="1200" dirty="0"/>
          </a:p>
        </p:txBody>
      </p:sp>
      <p:sp>
        <p:nvSpPr>
          <p:cNvPr id="18" name="Applied card"/>
          <p:cNvSpPr/>
          <p:nvPr/>
        </p:nvSpPr>
        <p:spPr>
          <a:xfrm>
            <a:off x="6400800" y="3520440"/>
            <a:ext cx="5330952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pplied icon bg"/>
          <p:cNvSpPr/>
          <p:nvPr/>
        </p:nvSpPr>
        <p:spPr>
          <a:xfrm>
            <a:off x="6629400" y="37033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pplied icon" descr="Theory applied to this pro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794760"/>
            <a:ext cx="237744" cy="237744"/>
          </a:xfrm>
          <a:prstGeom prst="rect">
            <a:avLst/>
          </a:prstGeom>
        </p:spPr>
      </p:pic>
      <p:sp>
        <p:nvSpPr>
          <p:cNvPr id="21" name="Applied heading"/>
          <p:cNvSpPr txBox="1"/>
          <p:nvPr/>
        </p:nvSpPr>
        <p:spPr>
          <a:xfrm>
            <a:off x="7178040" y="3685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Theory applied to this project</a:t>
            </a:r>
            <a:endParaRPr lang="en-US" sz="1800" dirty="0"/>
          </a:p>
        </p:txBody>
      </p:sp>
      <p:sp>
        <p:nvSpPr>
          <p:cNvPr id="22" name="Applied bullets"/>
          <p:cNvSpPr txBox="1"/>
          <p:nvPr/>
        </p:nvSpPr>
        <p:spPr>
          <a:xfrm>
            <a:off x="6675120" y="42519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ACS712-5A turns its branch current into an analog voltage for the Arduino ADC.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Arduino compares each branch current with a pre-set trip threshold.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the affected branch relay opens; the other relays stay closed.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SMS alert and an LCD message report the trip while healthy branches keep running.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Circuit Diagram and Hardware Architecture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5212994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5212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2 — Shams Mohammed Suha Chowdhury (20220105172)</a:t>
            </a:r>
            <a:endParaRPr lang="en-US" sz="1300" dirty="0"/>
          </a:p>
        </p:txBody>
      </p:sp>
      <p:sp>
        <p:nvSpPr>
          <p:cNvPr id="5" name="Diagram card"/>
          <p:cNvSpPr/>
          <p:nvPr/>
        </p:nvSpPr>
        <p:spPr>
          <a:xfrm>
            <a:off x="457200" y="1417320"/>
            <a:ext cx="6126480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Circuit diagram" descr="Reference circuit diagram of the Smart Multi-Protection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943600" cy="4457700"/>
          </a:xfrm>
          <a:prstGeom prst="rect">
            <a:avLst/>
          </a:prstGeom>
        </p:spPr>
      </p:pic>
      <p:sp>
        <p:nvSpPr>
          <p:cNvPr id="7" name="Diagram caption"/>
          <p:cNvSpPr txBox="1"/>
          <p:nvPr/>
        </p:nvSpPr>
        <p:spPr>
          <a:xfrm>
            <a:off x="640080" y="59893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Reference diagram (original design intent). The as-built prototype differs as noted on the right.</a:t>
            </a:r>
            <a:endParaRPr lang="en-US" sz="1100" dirty="0"/>
          </a:p>
        </p:txBody>
      </p:sp>
      <p:sp>
        <p:nvSpPr>
          <p:cNvPr id="8" name="Architecture card"/>
          <p:cNvSpPr/>
          <p:nvPr/>
        </p:nvSpPr>
        <p:spPr>
          <a:xfrm>
            <a:off x="6766560" y="1417320"/>
            <a:ext cx="4965192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rchitecture icon bg"/>
          <p:cNvSpPr/>
          <p:nvPr/>
        </p:nvSpPr>
        <p:spPr>
          <a:xfrm>
            <a:off x="6995160" y="1600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rchitecture icon" descr="Architecture explanation (as built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91640"/>
            <a:ext cx="237744" cy="237744"/>
          </a:xfrm>
          <a:prstGeom prst="rect">
            <a:avLst/>
          </a:prstGeom>
        </p:spPr>
      </p:pic>
      <p:sp>
        <p:nvSpPr>
          <p:cNvPr id="11" name="Architecture heading"/>
          <p:cNvSpPr txBox="1"/>
          <p:nvPr/>
        </p:nvSpPr>
        <p:spPr>
          <a:xfrm>
            <a:off x="754380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Architecture explanation (as built)</a:t>
            </a:r>
            <a:endParaRPr lang="en-US" sz="1800" dirty="0"/>
          </a:p>
        </p:txBody>
      </p:sp>
      <p:sp>
        <p:nvSpPr>
          <p:cNvPr id="12" name="Architecture bullets"/>
          <p:cNvSpPr txBox="1"/>
          <p:nvPr/>
        </p:nvSpPr>
        <p:spPr>
          <a:xfrm>
            <a:off x="6995160" y="214884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 220 V is distributed to four parallel branches.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branch has one ACS712-5A sensor (A0–A3) and its own channel on the 4-channel relay module, driven by a separate Arduino pin.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inline switches per branch control Load A (Normal) and Load B (Extra/Overload), both 220 V bulbs.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GSM module sends SMS alerts, a 16×2 I2C LCD shows status, and a push button resets a tripped branch.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DC adapter powers the Arduino; two buck converters condition the GSM and relay-coil supplies.</a:t>
            </a:r>
            <a:endParaRPr lang="en-US" sz="1400" dirty="0"/>
          </a:p>
        </p:txBody>
      </p:sp>
      <p:sp>
        <p:nvSpPr>
          <p:cNvPr id="13" name="As-built callout"/>
          <p:cNvSpPr/>
          <p:nvPr/>
        </p:nvSpPr>
        <p:spPr>
          <a:xfrm>
            <a:off x="6766560" y="5120640"/>
            <a:ext cx="4965192" cy="1143000"/>
          </a:xfrm>
          <a:prstGeom prst="roundRect">
            <a:avLst>
              <a:gd name="adj" fmla="val 8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14" name="As-built callout text"/>
          <p:cNvSpPr txBox="1"/>
          <p:nvPr/>
        </p:nvSpPr>
        <p:spPr>
          <a:xfrm>
            <a:off x="6949440" y="51663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 built vs diagram: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ZMPT101B voltage sensor, fuse and battery were omitted, and one 4-channel relay module replaces four single relays.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Working Procedure: Normal, Overload and Trip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5212994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5212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2 — Shams Mohammed Suha Chowdhury (20220105172)</a:t>
            </a:r>
            <a:endParaRPr lang="en-US" sz="1300" dirty="0"/>
          </a:p>
        </p:txBody>
      </p:sp>
      <p:sp>
        <p:nvSpPr>
          <p:cNvPr id="5" name="Step card 1"/>
          <p:cNvSpPr/>
          <p:nvPr/>
        </p:nvSpPr>
        <p:spPr>
          <a:xfrm>
            <a:off x="457200" y="1417320"/>
            <a:ext cx="20116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number bg 1"/>
          <p:cNvSpPr/>
          <p:nvPr/>
        </p:nvSpPr>
        <p:spPr>
          <a:xfrm>
            <a:off x="566928" y="166420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Step number 1"/>
          <p:cNvSpPr txBox="1"/>
          <p:nvPr/>
        </p:nvSpPr>
        <p:spPr>
          <a:xfrm>
            <a:off x="566928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tep title 1"/>
          <p:cNvSpPr txBox="1"/>
          <p:nvPr/>
        </p:nvSpPr>
        <p:spPr>
          <a:xfrm>
            <a:off x="1078992" y="1499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Wire + code</a:t>
            </a:r>
            <a:endParaRPr lang="en-US" sz="1500" dirty="0"/>
          </a:p>
        </p:txBody>
      </p:sp>
      <p:sp>
        <p:nvSpPr>
          <p:cNvPr id="9" name="Step text 1"/>
          <p:cNvSpPr txBox="1"/>
          <p:nvPr/>
        </p:nvSpPr>
        <p:spPr>
          <a:xfrm>
            <a:off x="1078992" y="18653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Assemble, then upload sketch</a:t>
            </a:r>
            <a:endParaRPr lang="en-US" sz="1200" dirty="0"/>
          </a:p>
        </p:txBody>
      </p:sp>
      <p:sp>
        <p:nvSpPr>
          <p:cNvPr id="10" name="Step arrow 1"/>
          <p:cNvSpPr/>
          <p:nvPr/>
        </p:nvSpPr>
        <p:spPr>
          <a:xfrm>
            <a:off x="2487168" y="1764792"/>
            <a:ext cx="268148" cy="21945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Step card 2"/>
          <p:cNvSpPr/>
          <p:nvPr/>
        </p:nvSpPr>
        <p:spPr>
          <a:xfrm>
            <a:off x="2773604" y="1417320"/>
            <a:ext cx="20116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ep number bg 2"/>
          <p:cNvSpPr/>
          <p:nvPr/>
        </p:nvSpPr>
        <p:spPr>
          <a:xfrm>
            <a:off x="2883332" y="166420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Step number 2"/>
          <p:cNvSpPr txBox="1"/>
          <p:nvPr/>
        </p:nvSpPr>
        <p:spPr>
          <a:xfrm>
            <a:off x="2883332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tep title 2"/>
          <p:cNvSpPr txBox="1"/>
          <p:nvPr/>
        </p:nvSpPr>
        <p:spPr>
          <a:xfrm>
            <a:off x="3395396" y="1499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Normal run</a:t>
            </a:r>
            <a:endParaRPr lang="en-US" sz="1500" dirty="0"/>
          </a:p>
        </p:txBody>
      </p:sp>
      <p:sp>
        <p:nvSpPr>
          <p:cNvPr id="15" name="Step text 2"/>
          <p:cNvSpPr txBox="1"/>
          <p:nvPr/>
        </p:nvSpPr>
        <p:spPr>
          <a:xfrm>
            <a:off x="3395396" y="18653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Switch A only, no trip</a:t>
            </a:r>
            <a:endParaRPr lang="en-US" sz="1200" dirty="0"/>
          </a:p>
        </p:txBody>
      </p:sp>
      <p:sp>
        <p:nvSpPr>
          <p:cNvPr id="16" name="Step arrow 2"/>
          <p:cNvSpPr/>
          <p:nvPr/>
        </p:nvSpPr>
        <p:spPr>
          <a:xfrm>
            <a:off x="4803572" y="1764792"/>
            <a:ext cx="268148" cy="21945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7" name="Step card 3"/>
          <p:cNvSpPr/>
          <p:nvPr/>
        </p:nvSpPr>
        <p:spPr>
          <a:xfrm>
            <a:off x="5090008" y="1417320"/>
            <a:ext cx="20116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tep number bg 3"/>
          <p:cNvSpPr/>
          <p:nvPr/>
        </p:nvSpPr>
        <p:spPr>
          <a:xfrm>
            <a:off x="5199736" y="166420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Step number 3"/>
          <p:cNvSpPr txBox="1"/>
          <p:nvPr/>
        </p:nvSpPr>
        <p:spPr>
          <a:xfrm>
            <a:off x="5199736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tep title 3"/>
          <p:cNvSpPr txBox="1"/>
          <p:nvPr/>
        </p:nvSpPr>
        <p:spPr>
          <a:xfrm>
            <a:off x="5711800" y="1499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Overload test</a:t>
            </a:r>
            <a:endParaRPr lang="en-US" sz="1500" dirty="0"/>
          </a:p>
        </p:txBody>
      </p:sp>
      <p:sp>
        <p:nvSpPr>
          <p:cNvPr id="21" name="Step text 3"/>
          <p:cNvSpPr txBox="1"/>
          <p:nvPr/>
        </p:nvSpPr>
        <p:spPr>
          <a:xfrm>
            <a:off x="5711800" y="18653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Close Switch B</a:t>
            </a:r>
            <a:endParaRPr lang="en-US" sz="1200" dirty="0"/>
          </a:p>
        </p:txBody>
      </p:sp>
      <p:sp>
        <p:nvSpPr>
          <p:cNvPr id="22" name="Step arrow 3"/>
          <p:cNvSpPr/>
          <p:nvPr/>
        </p:nvSpPr>
        <p:spPr>
          <a:xfrm>
            <a:off x="7119976" y="1764792"/>
            <a:ext cx="268148" cy="21945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Step card 4"/>
          <p:cNvSpPr/>
          <p:nvPr/>
        </p:nvSpPr>
        <p:spPr>
          <a:xfrm>
            <a:off x="7406411" y="1417320"/>
            <a:ext cx="20116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number bg 4"/>
          <p:cNvSpPr/>
          <p:nvPr/>
        </p:nvSpPr>
        <p:spPr>
          <a:xfrm>
            <a:off x="7516139" y="166420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Step number 4"/>
          <p:cNvSpPr txBox="1"/>
          <p:nvPr/>
        </p:nvSpPr>
        <p:spPr>
          <a:xfrm>
            <a:off x="7516139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Step title 4"/>
          <p:cNvSpPr txBox="1"/>
          <p:nvPr/>
        </p:nvSpPr>
        <p:spPr>
          <a:xfrm>
            <a:off x="8028203" y="1499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Trip + alert</a:t>
            </a:r>
            <a:endParaRPr lang="en-US" sz="1500" dirty="0"/>
          </a:p>
        </p:txBody>
      </p:sp>
      <p:sp>
        <p:nvSpPr>
          <p:cNvPr id="27" name="Step text 4"/>
          <p:cNvSpPr txBox="1"/>
          <p:nvPr/>
        </p:nvSpPr>
        <p:spPr>
          <a:xfrm>
            <a:off x="8028203" y="18653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Relay opens, SMS sent</a:t>
            </a:r>
            <a:endParaRPr lang="en-US" sz="1200" dirty="0"/>
          </a:p>
        </p:txBody>
      </p:sp>
      <p:sp>
        <p:nvSpPr>
          <p:cNvPr id="28" name="Step arrow 4"/>
          <p:cNvSpPr/>
          <p:nvPr/>
        </p:nvSpPr>
        <p:spPr>
          <a:xfrm>
            <a:off x="9436379" y="1764792"/>
            <a:ext cx="268148" cy="21945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9" name="Step card 5"/>
          <p:cNvSpPr/>
          <p:nvPr/>
        </p:nvSpPr>
        <p:spPr>
          <a:xfrm>
            <a:off x="9722815" y="1417320"/>
            <a:ext cx="20116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tep number bg 5"/>
          <p:cNvSpPr/>
          <p:nvPr/>
        </p:nvSpPr>
        <p:spPr>
          <a:xfrm>
            <a:off x="9832543" y="166420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Step number 5"/>
          <p:cNvSpPr txBox="1"/>
          <p:nvPr/>
        </p:nvSpPr>
        <p:spPr>
          <a:xfrm>
            <a:off x="9832543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Step title 5"/>
          <p:cNvSpPr txBox="1"/>
          <p:nvPr/>
        </p:nvSpPr>
        <p:spPr>
          <a:xfrm>
            <a:off x="10344607" y="1499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Reset</a:t>
            </a:r>
            <a:endParaRPr lang="en-US" sz="1500" dirty="0"/>
          </a:p>
        </p:txBody>
      </p:sp>
      <p:sp>
        <p:nvSpPr>
          <p:cNvPr id="33" name="Step text 5"/>
          <p:cNvSpPr txBox="1"/>
          <p:nvPr/>
        </p:nvSpPr>
        <p:spPr>
          <a:xfrm>
            <a:off x="10344607" y="18653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Push button, restore</a:t>
            </a:r>
            <a:endParaRPr lang="en-US" sz="1200" dirty="0"/>
          </a:p>
        </p:txBody>
      </p:sp>
      <p:sp>
        <p:nvSpPr>
          <p:cNvPr id="34" name="Procedure card"/>
          <p:cNvSpPr/>
          <p:nvPr/>
        </p:nvSpPr>
        <p:spPr>
          <a:xfrm>
            <a:off x="457200" y="2560320"/>
            <a:ext cx="6720840" cy="3703320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Procedure icon bg"/>
          <p:cNvSpPr/>
          <p:nvPr/>
        </p:nvSpPr>
        <p:spPr>
          <a:xfrm>
            <a:off x="685800" y="2743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Procedure icon" descr="Detailed working proce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34640"/>
            <a:ext cx="237744" cy="237744"/>
          </a:xfrm>
          <a:prstGeom prst="rect">
            <a:avLst/>
          </a:prstGeom>
        </p:spPr>
      </p:pic>
      <p:sp>
        <p:nvSpPr>
          <p:cNvPr id="37" name="Procedure heading"/>
          <p:cNvSpPr txBox="1"/>
          <p:nvPr/>
        </p:nvSpPr>
        <p:spPr>
          <a:xfrm>
            <a:off x="1234440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Detailed working procedure</a:t>
            </a:r>
            <a:endParaRPr lang="en-US" sz="1800" dirty="0"/>
          </a:p>
        </p:txBody>
      </p:sp>
      <p:sp>
        <p:nvSpPr>
          <p:cNvPr id="38" name="Procedure steps"/>
          <p:cNvSpPr txBox="1"/>
          <p:nvPr/>
        </p:nvSpPr>
        <p:spPr>
          <a:xfrm>
            <a:off x="731520" y="329184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Wire each branch with its ACS712-5A sensor, relay channel, two switches and two bulbs; connect A0–A3, relay inputs, GSM, LCD and push button.</a:t>
            </a:r>
            <a:endParaRPr lang="en-US" sz="15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Power the Arduino from the DC adapter and upload the sketch before switching on the AC supply.</a:t>
            </a:r>
            <a:endParaRPr lang="en-US" sz="15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Close only Switch A in each branch; the bulbs glow and readings stay normal.</a:t>
            </a:r>
            <a:endParaRPr lang="en-US" sz="15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Close Switch B in one branch: its current crosses the threshold, only that relay opens, and the other three keep running.</a:t>
            </a:r>
            <a:endParaRPr lang="en-US" sz="15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Check the SMS alert and LCD fault message. For the short-circuit test, briefly connect a branch sensor load path to neutral; the relay trips almost instantly.</a:t>
            </a:r>
            <a:endParaRPr lang="en-US" sz="15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Clear the fault, press the push button to reset, and re-close the switches.</a:t>
            </a:r>
            <a:endParaRPr lang="en-US" sz="1500" dirty="0"/>
          </a:p>
        </p:txBody>
      </p:sp>
      <p:sp>
        <p:nvSpPr>
          <p:cNvPr id="39" name="Safety card"/>
          <p:cNvSpPr/>
          <p:nvPr/>
        </p:nvSpPr>
        <p:spPr>
          <a:xfrm>
            <a:off x="7360920" y="2560320"/>
            <a:ext cx="4370832" cy="3703320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afety icon bg"/>
          <p:cNvSpPr/>
          <p:nvPr/>
        </p:nvSpPr>
        <p:spPr>
          <a:xfrm>
            <a:off x="7589520" y="2743200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Safety icon" descr="Safety and demonstration poi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834640"/>
            <a:ext cx="237744" cy="237744"/>
          </a:xfrm>
          <a:prstGeom prst="rect">
            <a:avLst/>
          </a:prstGeom>
        </p:spPr>
      </p:pic>
      <p:sp>
        <p:nvSpPr>
          <p:cNvPr id="42" name="Safety heading"/>
          <p:cNvSpPr txBox="1"/>
          <p:nvPr/>
        </p:nvSpPr>
        <p:spPr>
          <a:xfrm>
            <a:off x="8138160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Safety and demonstration points</a:t>
            </a:r>
            <a:endParaRPr lang="en-US" sz="1800" dirty="0"/>
          </a:p>
        </p:txBody>
      </p:sp>
      <p:sp>
        <p:nvSpPr>
          <p:cNvPr id="43" name="Safety bullets"/>
          <p:cNvSpPr txBox="1"/>
          <p:nvPr/>
        </p:nvSpPr>
        <p:spPr>
          <a:xfrm>
            <a:off x="7635240" y="32918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Check all low-voltage connections before applying 220 V AC.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Arduino sends only low-voltage control signals; the relay contacts carry the lamp current.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 the short-circuit test briefly and carefully, with strict insulation on the 220 V wiring.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Key line to explain: branch current high → Arduino detects → relay opens → SMS and LCD → healthy branches stay 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Technical Analysis: Sensing and Trip Decision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3852367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3852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3 — Farhan Rakeen (20220105173)</a:t>
            </a:r>
            <a:endParaRPr lang="en-US" sz="1300" dirty="0"/>
          </a:p>
        </p:txBody>
      </p:sp>
      <p:sp>
        <p:nvSpPr>
          <p:cNvPr id="5" name="Sensing card"/>
          <p:cNvSpPr/>
          <p:nvPr/>
        </p:nvSpPr>
        <p:spPr>
          <a:xfrm>
            <a:off x="457200" y="1417320"/>
            <a:ext cx="6583680" cy="2788920"/>
          </a:xfrm>
          <a:prstGeom prst="roundRect">
            <a:avLst>
              <a:gd name="adj" fmla="val 3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ensing icon bg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ensing icon" descr="Sensing and decision log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37744" cy="237744"/>
          </a:xfrm>
          <a:prstGeom prst="rect">
            <a:avLst/>
          </a:prstGeom>
        </p:spPr>
      </p:pic>
      <p:sp>
        <p:nvSpPr>
          <p:cNvPr id="8" name="Sensing heading"/>
          <p:cNvSpPr txBox="1"/>
          <p:nvPr/>
        </p:nvSpPr>
        <p:spPr>
          <a:xfrm>
            <a:off x="123444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Sensing and decision logic</a:t>
            </a:r>
            <a:endParaRPr lang="en-US" sz="1800" dirty="0"/>
          </a:p>
        </p:txBody>
      </p:sp>
      <p:sp>
        <p:nvSpPr>
          <p:cNvPr id="9" name="Sensing bullets"/>
          <p:cNvSpPr txBox="1"/>
          <p:nvPr/>
        </p:nvSpPr>
        <p:spPr>
          <a:xfrm>
            <a:off x="731520" y="214884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ACS712-5A is a Hall-effect sensor: branch current creates a magnetic field and the sensor outputs a proportional analog voltage.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Arduino reads A0–A3, one branch per pin, and converts each reading to load current, sampling continuously.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branch current is compared with a pre-set threshold; a crossing drives the matching relay channel, an LCD message and an SMS.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Thresholds come from calibration, because small offset or gain errors shift the trip point.</a:t>
            </a:r>
            <a:endParaRPr lang="en-US" sz="1400" dirty="0"/>
          </a:p>
        </p:txBody>
      </p:sp>
      <p:sp>
        <p:nvSpPr>
          <p:cNvPr id="10" name="Formula card"/>
          <p:cNvSpPr/>
          <p:nvPr/>
        </p:nvSpPr>
        <p:spPr>
          <a:xfrm>
            <a:off x="7223760" y="1417320"/>
            <a:ext cx="4507992" cy="2788920"/>
          </a:xfrm>
          <a:prstGeom prst="roundRect">
            <a:avLst>
              <a:gd name="adj" fmla="val 3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Formula icon bg"/>
          <p:cNvSpPr/>
          <p:nvPr/>
        </p:nvSpPr>
        <p:spPr>
          <a:xfrm>
            <a:off x="7452360" y="1600200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Formula icon" descr="Formula 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691640"/>
            <a:ext cx="237744" cy="237744"/>
          </a:xfrm>
          <a:prstGeom prst="rect">
            <a:avLst/>
          </a:prstGeom>
        </p:spPr>
      </p:pic>
      <p:sp>
        <p:nvSpPr>
          <p:cNvPr id="13" name="Formula heading"/>
          <p:cNvSpPr txBox="1"/>
          <p:nvPr/>
        </p:nvSpPr>
        <p:spPr>
          <a:xfrm>
            <a:off x="800100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Formula panel</a:t>
            </a:r>
            <a:endParaRPr lang="en-US" sz="1800" dirty="0"/>
          </a:p>
        </p:txBody>
      </p:sp>
      <p:sp>
        <p:nvSpPr>
          <p:cNvPr id="14" name="Formula ADC"/>
          <p:cNvSpPr txBox="1"/>
          <p:nvPr/>
        </p:nvSpPr>
        <p:spPr>
          <a:xfrm>
            <a:off x="7498080" y="2148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</a:t>
            </a:r>
            <a:pPr indent="0" marL="0">
              <a:buNone/>
            </a:pPr>
            <a:r>
              <a:rPr lang="en-US" sz="1700" b="1" baseline="-40000" dirty="0">
                <a:solidFill>
                  <a:schemeClr val="tx2"/>
                </a:solidFill>
              </a:rPr>
              <a:t>ADC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 = (ADC_count / 1023) × V</a:t>
            </a:r>
            <a:pPr indent="0" marL="0">
              <a:buNone/>
            </a:pPr>
            <a:r>
              <a:rPr lang="en-US" sz="1700" b="1" baseline="-40000" dirty="0">
                <a:solidFill>
                  <a:schemeClr val="tx2"/>
                </a:solidFill>
              </a:rPr>
              <a:t>ref</a:t>
            </a:r>
            <a:endParaRPr lang="en-US" sz="1700" dirty="0"/>
          </a:p>
        </p:txBody>
      </p:sp>
      <p:sp>
        <p:nvSpPr>
          <p:cNvPr id="15" name="Formula current"/>
          <p:cNvSpPr txBox="1"/>
          <p:nvPr/>
        </p:nvSpPr>
        <p:spPr>
          <a:xfrm>
            <a:off x="7498080" y="2560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 = (V</a:t>
            </a:r>
            <a:pPr indent="0" marL="0">
              <a:buNone/>
            </a:pPr>
            <a:r>
              <a:rPr lang="en-US" sz="1700" b="1" baseline="-40000" dirty="0">
                <a:solidFill>
                  <a:schemeClr val="tx2"/>
                </a:solidFill>
              </a:rPr>
              <a:t>ADC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 − V</a:t>
            </a:r>
            <a:pPr indent="0" marL="0">
              <a:buNone/>
            </a:pPr>
            <a:r>
              <a:rPr lang="en-US" sz="1700" b="1" baseline="-40000" dirty="0">
                <a:solidFill>
                  <a:schemeClr val="tx2"/>
                </a:solidFill>
              </a:rPr>
              <a:t>0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) / K</a:t>
            </a:r>
            <a:endParaRPr lang="en-US" sz="1700" dirty="0"/>
          </a:p>
        </p:txBody>
      </p:sp>
      <p:sp>
        <p:nvSpPr>
          <p:cNvPr id="16" name="Formula note"/>
          <p:cNvSpPr txBox="1"/>
          <p:nvPr/>
        </p:nvSpPr>
        <p:spPr>
          <a:xfrm>
            <a:off x="7498080" y="29260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Arduino UNO 10-bit ADC (0–1023); V₀ = offset, K = calibrated sensitivity</a:t>
            </a:r>
            <a:endParaRPr lang="en-US" sz="1200" dirty="0"/>
          </a:p>
        </p:txBody>
      </p:sp>
      <p:sp>
        <p:nvSpPr>
          <p:cNvPr id="17" name="Trip rule box"/>
          <p:cNvSpPr/>
          <p:nvPr/>
        </p:nvSpPr>
        <p:spPr>
          <a:xfrm>
            <a:off x="7498080" y="3401568"/>
            <a:ext cx="3977640" cy="658368"/>
          </a:xfrm>
          <a:prstGeom prst="roundRect">
            <a:avLst>
              <a:gd name="adj" fmla="val 11111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18" name="Trip rule text"/>
          <p:cNvSpPr txBox="1"/>
          <p:nvPr/>
        </p:nvSpPr>
        <p:spPr>
          <a:xfrm>
            <a:off x="7589520" y="341985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Trip rule: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I_branch ≥ I_trip, open that relay and send an SMS.</a:t>
            </a:r>
            <a:endParaRPr lang="en-US" sz="1300" dirty="0"/>
          </a:p>
        </p:txBody>
      </p:sp>
      <p:sp>
        <p:nvSpPr>
          <p:cNvPr id="19" name="Table label"/>
          <p:cNvSpPr txBox="1"/>
          <p:nvPr/>
        </p:nvSpPr>
        <p:spPr>
          <a:xfrm>
            <a:off x="45720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DECISION TABLE USED FOR EXPLANATION</a:t>
            </a:r>
            <a:endParaRPr lang="en-US" sz="1200" dirty="0"/>
          </a:p>
        </p:txBody>
      </p:sp>
      <p:graphicFrame>
        <p:nvGraphicFramePr>
          <p:cNvPr id="6" name="Dec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53712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416552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Measured condition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Controller interpretation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action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Normal load (Switch A only)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below threshold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Relay stays ON; LCD shows the live reading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Overload (Switch A + B)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Branch current crosses threshold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that relay opens; SMS and LCD fault message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Line-to-ground / short circuit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Very high fault current sensed by ACS712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Relay trips almost instantly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Abnormal supply voltage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sensed (no voltage sensor fitted)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protective action; outside current scope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Engineering Analysis: Selectivity and Reliability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3852367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3852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3 — Farhan Rakeen (20220105173)</a:t>
            </a:r>
            <a:endParaRPr lang="en-US" sz="1300" dirty="0"/>
          </a:p>
        </p:txBody>
      </p:sp>
      <p:sp>
        <p:nvSpPr>
          <p:cNvPr id="5" name="Selectivity card"/>
          <p:cNvSpPr/>
          <p:nvPr/>
        </p:nvSpPr>
        <p:spPr>
          <a:xfrm>
            <a:off x="457200" y="1417320"/>
            <a:ext cx="5760720" cy="2880360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electivity icon bg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electivity icon" descr="Selectivity and coordin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37744" cy="237744"/>
          </a:xfrm>
          <a:prstGeom prst="rect">
            <a:avLst/>
          </a:prstGeom>
        </p:spPr>
      </p:pic>
      <p:sp>
        <p:nvSpPr>
          <p:cNvPr id="8" name="Selectivity heading"/>
          <p:cNvSpPr txBox="1"/>
          <p:nvPr/>
        </p:nvSpPr>
        <p:spPr>
          <a:xfrm>
            <a:off x="123444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Selectivity and coordination</a:t>
            </a:r>
            <a:endParaRPr lang="en-US" sz="1800" dirty="0"/>
          </a:p>
        </p:txBody>
      </p:sp>
      <p:sp>
        <p:nvSpPr>
          <p:cNvPr id="9" name="Selectivity bullets"/>
          <p:cNvSpPr txBox="1"/>
          <p:nvPr/>
        </p:nvSpPr>
        <p:spPr>
          <a:xfrm>
            <a:off x="731520" y="214884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Selectivity means the protective element nearest the fault clears it while unrelated sections stay energized.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ACS712 is a local detector, and its own relay channel is the first isolating device for that branch.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Four relays share one board, but each has its own Arduino pin, so tripping one leaves the others unaffected.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Backup is still needed: this prototype has no fuse, so a real system keeps a main breaker or fuse upstream.</a:t>
            </a:r>
            <a:endParaRPr lang="en-US" sz="1400" dirty="0"/>
          </a:p>
        </p:txBody>
      </p:sp>
      <p:sp>
        <p:nvSpPr>
          <p:cNvPr id="10" name="Illustration card"/>
          <p:cNvSpPr/>
          <p:nvPr/>
        </p:nvSpPr>
        <p:spPr>
          <a:xfrm>
            <a:off x="6400800" y="1417320"/>
            <a:ext cx="5330952" cy="2880360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llustration icon bg"/>
          <p:cNvSpPr/>
          <p:nvPr/>
        </p:nvSpPr>
        <p:spPr>
          <a:xfrm>
            <a:off x="6629400" y="1600200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llustration icon" descr="Selective tripping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237744" cy="237744"/>
          </a:xfrm>
          <a:prstGeom prst="rect">
            <a:avLst/>
          </a:prstGeom>
        </p:spPr>
      </p:pic>
      <p:sp>
        <p:nvSpPr>
          <p:cNvPr id="13" name="Illustration heading"/>
          <p:cNvSpPr txBox="1"/>
          <p:nvPr/>
        </p:nvSpPr>
        <p:spPr>
          <a:xfrm>
            <a:off x="717804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Selective tripping illustration</a:t>
            </a:r>
            <a:endParaRPr lang="en-US" sz="1800" dirty="0"/>
          </a:p>
        </p:txBody>
      </p:sp>
      <p:sp>
        <p:nvSpPr>
          <p:cNvPr id="14" name="AC bus"/>
          <p:cNvSpPr/>
          <p:nvPr/>
        </p:nvSpPr>
        <p:spPr>
          <a:xfrm>
            <a:off x="6675120" y="2176272"/>
            <a:ext cx="478231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/>
        </p:spPr>
      </p:sp>
      <p:sp>
        <p:nvSpPr>
          <p:cNvPr id="15" name="AC bus label"/>
          <p:cNvSpPr txBox="1"/>
          <p:nvPr/>
        </p:nvSpPr>
        <p:spPr>
          <a:xfrm>
            <a:off x="6675120" y="2176272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 220 V supply</a:t>
            </a:r>
            <a:endParaRPr lang="en-US" sz="1400" dirty="0"/>
          </a:p>
        </p:txBody>
      </p:sp>
      <p:sp>
        <p:nvSpPr>
          <p:cNvPr id="16" name="Branch feed 1"/>
          <p:cNvSpPr/>
          <p:nvPr/>
        </p:nvSpPr>
        <p:spPr>
          <a:xfrm>
            <a:off x="7214616" y="2523744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7" name="Branch box 1"/>
          <p:cNvSpPr/>
          <p:nvPr/>
        </p:nvSpPr>
        <p:spPr>
          <a:xfrm>
            <a:off x="6675120" y="2706624"/>
            <a:ext cx="1078992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18" name="Branch label 1"/>
          <p:cNvSpPr txBox="1"/>
          <p:nvPr/>
        </p:nvSpPr>
        <p:spPr>
          <a:xfrm>
            <a:off x="6675120" y="2706624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Branch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</a:t>
            </a:r>
            <a:endParaRPr lang="en-US" sz="1400" dirty="0"/>
          </a:p>
        </p:txBody>
      </p:sp>
      <p:sp>
        <p:nvSpPr>
          <p:cNvPr id="19" name="Branch feed 2"/>
          <p:cNvSpPr/>
          <p:nvPr/>
        </p:nvSpPr>
        <p:spPr>
          <a:xfrm>
            <a:off x="8449056" y="2523744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0" name="Branch box 2"/>
          <p:cNvSpPr/>
          <p:nvPr/>
        </p:nvSpPr>
        <p:spPr>
          <a:xfrm>
            <a:off x="7909560" y="2706624"/>
            <a:ext cx="1078992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/>
        </p:spPr>
      </p:sp>
      <p:sp>
        <p:nvSpPr>
          <p:cNvPr id="21" name="Branch label 2"/>
          <p:cNvSpPr txBox="1"/>
          <p:nvPr/>
        </p:nvSpPr>
        <p:spPr>
          <a:xfrm>
            <a:off x="7909560" y="2706624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Branch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TRIPPED</a:t>
            </a:r>
            <a:endParaRPr lang="en-US" sz="1400" dirty="0"/>
          </a:p>
        </p:txBody>
      </p:sp>
      <p:sp>
        <p:nvSpPr>
          <p:cNvPr id="22" name="Branch feed 3"/>
          <p:cNvSpPr/>
          <p:nvPr/>
        </p:nvSpPr>
        <p:spPr>
          <a:xfrm>
            <a:off x="9683496" y="2523744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3" name="Branch box 3"/>
          <p:cNvSpPr/>
          <p:nvPr/>
        </p:nvSpPr>
        <p:spPr>
          <a:xfrm>
            <a:off x="9144000" y="2706624"/>
            <a:ext cx="1078992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4" name="Branch label 3"/>
          <p:cNvSpPr txBox="1"/>
          <p:nvPr/>
        </p:nvSpPr>
        <p:spPr>
          <a:xfrm>
            <a:off x="9144000" y="2706624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Branch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</a:t>
            </a:r>
            <a:endParaRPr lang="en-US" sz="1400" dirty="0"/>
          </a:p>
        </p:txBody>
      </p:sp>
      <p:sp>
        <p:nvSpPr>
          <p:cNvPr id="25" name="Branch feed 4"/>
          <p:cNvSpPr/>
          <p:nvPr/>
        </p:nvSpPr>
        <p:spPr>
          <a:xfrm>
            <a:off x="10917936" y="2523744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6" name="Branch box 4"/>
          <p:cNvSpPr/>
          <p:nvPr/>
        </p:nvSpPr>
        <p:spPr>
          <a:xfrm>
            <a:off x="10378440" y="2706624"/>
            <a:ext cx="1078992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7" name="Branch label 4"/>
          <p:cNvSpPr txBox="1"/>
          <p:nvPr/>
        </p:nvSpPr>
        <p:spPr>
          <a:xfrm>
            <a:off x="10378440" y="2706624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Branch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</a:t>
            </a:r>
            <a:endParaRPr lang="en-US" sz="1400" dirty="0"/>
          </a:p>
        </p:txBody>
      </p:sp>
      <p:sp>
        <p:nvSpPr>
          <p:cNvPr id="28" name="Illustration caption"/>
          <p:cNvSpPr txBox="1"/>
          <p:nvPr/>
        </p:nvSpPr>
        <p:spPr>
          <a:xfrm>
            <a:off x="6675120" y="374904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Only the faulty branch relay opens; the other three stay energized.</a:t>
            </a:r>
            <a:endParaRPr lang="en-US" sz="1200" dirty="0"/>
          </a:p>
        </p:txBody>
      </p:sp>
      <p:graphicFrame>
        <p:nvGraphicFramePr>
          <p:cNvPr id="7" name="Performance facto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62272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62279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Performance factor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matters in this model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Calibration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ACS712 offset and gain errors shift trip thresholds, causing nuisance trips or missed faults.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Relay speed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Electromechanical relays and Arduino polling are slower than breakers or solid-state switching.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Sensor drift and noise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ACS712 readings drift with temperature and pick up noise on a prototype board.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Shared relay board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PCB carries all four relays, so a board fault could affect more than one branch.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GSM coverage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SMS needs network and SIM availability; the trip still happens and the LCD still shows the fault.</a:t>
                      </a:r>
                      <a:endParaRPr lang="en-US" sz="14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Real Project Implementation: Hardware Layout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4362602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4362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4 — Ahmed Eyenun Nishat (20220105237)</a:t>
            </a:r>
            <a:endParaRPr lang="en-US" sz="1300" dirty="0"/>
          </a:p>
        </p:txBody>
      </p:sp>
      <p:pic>
        <p:nvPicPr>
          <p:cNvPr id="5" name="Prototype photo full view" descr="Full view of the assembled prot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977640" cy="3483864"/>
          </a:xfrm>
          <a:prstGeom prst="rect">
            <a:avLst/>
          </a:prstGeom>
        </p:spPr>
      </p:pic>
      <p:pic>
        <p:nvPicPr>
          <p:cNvPr id="6" name="Prototype photo close-up" descr="Close-up of the control 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417320"/>
            <a:ext cx="2697480" cy="3483864"/>
          </a:xfrm>
          <a:prstGeom prst="rect">
            <a:avLst/>
          </a:prstGeom>
        </p:spPr>
      </p:pic>
      <p:sp>
        <p:nvSpPr>
          <p:cNvPr id="7" name="Photo caption 1"/>
          <p:cNvSpPr txBox="1"/>
          <p:nvPr/>
        </p:nvSpPr>
        <p:spPr>
          <a:xfrm>
            <a:off x="457200" y="49377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Full view: lamps around the board, switches at the bottom</a:t>
            </a:r>
            <a:endParaRPr lang="en-US" sz="1200" dirty="0"/>
          </a:p>
        </p:txBody>
      </p:sp>
      <p:sp>
        <p:nvSpPr>
          <p:cNvPr id="8" name="Photo caption 2"/>
          <p:cNvSpPr txBox="1"/>
          <p:nvPr/>
        </p:nvSpPr>
        <p:spPr>
          <a:xfrm>
            <a:off x="4562856" y="4937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Close-up: LCD, Arduino UNO, relay module</a:t>
            </a:r>
            <a:endParaRPr lang="en-US" sz="1200" dirty="0"/>
          </a:p>
        </p:txBody>
      </p:sp>
      <p:sp>
        <p:nvSpPr>
          <p:cNvPr id="9" name="Stat tile 1"/>
          <p:cNvSpPr/>
          <p:nvPr/>
        </p:nvSpPr>
        <p:spPr>
          <a:xfrm>
            <a:off x="457200" y="5440680"/>
            <a:ext cx="16002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at number 1"/>
          <p:cNvSpPr txBox="1"/>
          <p:nvPr/>
        </p:nvSpPr>
        <p:spPr>
          <a:xfrm>
            <a:off x="548640" y="546811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</a:t>
            </a:r>
            <a:endParaRPr lang="en-US" sz="3200" dirty="0"/>
          </a:p>
        </p:txBody>
      </p:sp>
      <p:sp>
        <p:nvSpPr>
          <p:cNvPr id="11" name="Stat label 1"/>
          <p:cNvSpPr txBox="1"/>
          <p:nvPr/>
        </p:nvSpPr>
        <p:spPr>
          <a:xfrm>
            <a:off x="1115568" y="546811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branches</a:t>
            </a:r>
            <a:endParaRPr lang="en-US" sz="1200" dirty="0"/>
          </a:p>
        </p:txBody>
      </p:sp>
      <p:sp>
        <p:nvSpPr>
          <p:cNvPr id="12" name="Stat tile 2"/>
          <p:cNvSpPr/>
          <p:nvPr/>
        </p:nvSpPr>
        <p:spPr>
          <a:xfrm>
            <a:off x="2191512" y="5440680"/>
            <a:ext cx="16002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tat number 2"/>
          <p:cNvSpPr txBox="1"/>
          <p:nvPr/>
        </p:nvSpPr>
        <p:spPr>
          <a:xfrm>
            <a:off x="2282952" y="546811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</a:t>
            </a:r>
            <a:endParaRPr lang="en-US" sz="3200" dirty="0"/>
          </a:p>
        </p:txBody>
      </p:sp>
      <p:sp>
        <p:nvSpPr>
          <p:cNvPr id="14" name="Stat label 2"/>
          <p:cNvSpPr txBox="1"/>
          <p:nvPr/>
        </p:nvSpPr>
        <p:spPr>
          <a:xfrm>
            <a:off x="2849880" y="546811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ACS712-5A sensors</a:t>
            </a:r>
            <a:endParaRPr lang="en-US" sz="1200" dirty="0"/>
          </a:p>
        </p:txBody>
      </p:sp>
      <p:sp>
        <p:nvSpPr>
          <p:cNvPr id="15" name="Stat tile 3"/>
          <p:cNvSpPr/>
          <p:nvPr/>
        </p:nvSpPr>
        <p:spPr>
          <a:xfrm>
            <a:off x="3925824" y="5440680"/>
            <a:ext cx="16002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at number 3"/>
          <p:cNvSpPr txBox="1"/>
          <p:nvPr/>
        </p:nvSpPr>
        <p:spPr>
          <a:xfrm>
            <a:off x="4017264" y="546811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Stat label 3"/>
          <p:cNvSpPr txBox="1"/>
          <p:nvPr/>
        </p:nvSpPr>
        <p:spPr>
          <a:xfrm>
            <a:off x="4584192" y="546811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relay channels</a:t>
            </a:r>
            <a:endParaRPr lang="en-US" sz="1200" dirty="0"/>
          </a:p>
        </p:txBody>
      </p:sp>
      <p:sp>
        <p:nvSpPr>
          <p:cNvPr id="18" name="Stat tile 4"/>
          <p:cNvSpPr/>
          <p:nvPr/>
        </p:nvSpPr>
        <p:spPr>
          <a:xfrm>
            <a:off x="5660136" y="5440680"/>
            <a:ext cx="16002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at number 4"/>
          <p:cNvSpPr txBox="1"/>
          <p:nvPr/>
        </p:nvSpPr>
        <p:spPr>
          <a:xfrm>
            <a:off x="5751576" y="546811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</a:t>
            </a:r>
            <a:endParaRPr lang="en-US" sz="3200" dirty="0"/>
          </a:p>
        </p:txBody>
      </p:sp>
      <p:sp>
        <p:nvSpPr>
          <p:cNvPr id="20" name="Stat label 4"/>
          <p:cNvSpPr txBox="1"/>
          <p:nvPr/>
        </p:nvSpPr>
        <p:spPr>
          <a:xfrm>
            <a:off x="6318504" y="546811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lamps and switches</a:t>
            </a:r>
            <a:endParaRPr lang="en-US" sz="1200" dirty="0"/>
          </a:p>
        </p:txBody>
      </p:sp>
      <p:sp>
        <p:nvSpPr>
          <p:cNvPr id="21" name="Photo notes card"/>
          <p:cNvSpPr/>
          <p:nvPr/>
        </p:nvSpPr>
        <p:spPr>
          <a:xfrm>
            <a:off x="7452360" y="1417320"/>
            <a:ext cx="4279392" cy="4846320"/>
          </a:xfrm>
          <a:prstGeom prst="roundRect">
            <a:avLst>
              <a:gd name="adj" fmla="val 213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Photo notes icon bg"/>
          <p:cNvSpPr/>
          <p:nvPr/>
        </p:nvSpPr>
        <p:spPr>
          <a:xfrm>
            <a:off x="7680960" y="1600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Photo notes icon" descr="What the photos sh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91640"/>
            <a:ext cx="237744" cy="237744"/>
          </a:xfrm>
          <a:prstGeom prst="rect">
            <a:avLst/>
          </a:prstGeom>
        </p:spPr>
      </p:pic>
      <p:sp>
        <p:nvSpPr>
          <p:cNvPr id="24" name="Photo notes heading"/>
          <p:cNvSpPr txBox="1"/>
          <p:nvPr/>
        </p:nvSpPr>
        <p:spPr>
          <a:xfrm>
            <a:off x="822960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photos show</a:t>
            </a:r>
            <a:endParaRPr lang="en-US" sz="1800" dirty="0"/>
          </a:p>
        </p:txBody>
      </p:sp>
      <p:sp>
        <p:nvSpPr>
          <p:cNvPr id="25" name="Photo notes bullets"/>
          <p:cNvSpPr txBox="1"/>
          <p:nvPr/>
        </p:nvSpPr>
        <p:spPr>
          <a:xfrm>
            <a:off x="7726680" y="2194560"/>
            <a:ext cx="37947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real, working prototype wired on a rigid mounting board; no custom PCB is used.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Centre: Arduino UNO with the 16×2 I2C LCD and the reset push button.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Right of centre: GSM module, two buck converters, the 4-channel relay module and the ACS712-5A sensors.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Eight inline switches and eight 220 V lamp holders form four branches, each with a Normal and an Extra/Overload bulb.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Dense wiring shows why labelling, insulation and separating 220 V AC from control wiring are essential.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Applications, Advantages and Limitations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4362602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4362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4 — Ahmed Eyenun Nishat (20220105237)</a:t>
            </a:r>
            <a:endParaRPr lang="en-US" sz="1300" dirty="0"/>
          </a:p>
        </p:txBody>
      </p:sp>
      <p:sp>
        <p:nvSpPr>
          <p:cNvPr id="5" name="Column card 1"/>
          <p:cNvSpPr/>
          <p:nvPr/>
        </p:nvSpPr>
        <p:spPr>
          <a:xfrm>
            <a:off x="457200" y="1417320"/>
            <a:ext cx="3611880" cy="4114800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olumn 1 icon bg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olumn 1 icon" descr="Practical 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37744" cy="237744"/>
          </a:xfrm>
          <a:prstGeom prst="rect">
            <a:avLst/>
          </a:prstGeom>
        </p:spPr>
      </p:pic>
      <p:sp>
        <p:nvSpPr>
          <p:cNvPr id="8" name="Column 1 heading"/>
          <p:cNvSpPr txBox="1"/>
          <p:nvPr/>
        </p:nvSpPr>
        <p:spPr>
          <a:xfrm>
            <a:off x="123444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Practical applications</a:t>
            </a:r>
            <a:endParaRPr lang="en-US" sz="1800" dirty="0"/>
          </a:p>
        </p:txBody>
      </p:sp>
      <p:sp>
        <p:nvSpPr>
          <p:cNvPr id="9" name="Column bullets 1"/>
          <p:cNvSpPr txBox="1"/>
          <p:nvPr/>
        </p:nvSpPr>
        <p:spPr>
          <a:xfrm>
            <a:off x="713232" y="21945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Smart distribution boards for homes and small commercial sites.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Educational trainer for over-current protection and selective tripping.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Load-wise or room-wise safety demonstrations.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 for future IoT notification and energy-monitoring projects.</a:t>
            </a:r>
            <a:endParaRPr lang="en-US" sz="1500" dirty="0"/>
          </a:p>
        </p:txBody>
      </p:sp>
      <p:sp>
        <p:nvSpPr>
          <p:cNvPr id="10" name="Column card 2"/>
          <p:cNvSpPr/>
          <p:nvPr/>
        </p:nvSpPr>
        <p:spPr>
          <a:xfrm>
            <a:off x="4289908" y="1417320"/>
            <a:ext cx="3611880" cy="4114800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olumn 2 icon bg"/>
          <p:cNvSpPr/>
          <p:nvPr/>
        </p:nvSpPr>
        <p:spPr>
          <a:xfrm>
            <a:off x="4518508" y="160020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Column 2 icon" descr="Advanta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48" y="1691640"/>
            <a:ext cx="237744" cy="237744"/>
          </a:xfrm>
          <a:prstGeom prst="rect">
            <a:avLst/>
          </a:prstGeom>
        </p:spPr>
      </p:pic>
      <p:sp>
        <p:nvSpPr>
          <p:cNvPr id="13" name="Column 2 heading"/>
          <p:cNvSpPr txBox="1"/>
          <p:nvPr/>
        </p:nvSpPr>
        <p:spPr>
          <a:xfrm>
            <a:off x="5067148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14" name="Column bullets 2"/>
          <p:cNvSpPr txBox="1"/>
          <p:nvPr/>
        </p:nvSpPr>
        <p:spPr>
          <a:xfrm>
            <a:off x="4545940" y="21945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Independent branches: each relay channel has its own Arduino pin.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Selective tripping keeps healthy branches powered.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SMS alerts for remote awareness and LCD status locally.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Simple push-button reset after the fault is cleared.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Low-cost, modular, off-the-shelf parts with real-time current monitoring.</a:t>
            </a:r>
            <a:endParaRPr lang="en-US" sz="1500" dirty="0"/>
          </a:p>
        </p:txBody>
      </p:sp>
      <p:sp>
        <p:nvSpPr>
          <p:cNvPr id="15" name="Column card 3"/>
          <p:cNvSpPr/>
          <p:nvPr/>
        </p:nvSpPr>
        <p:spPr>
          <a:xfrm>
            <a:off x="8122615" y="1417320"/>
            <a:ext cx="3611880" cy="4114800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olumn 3 icon bg"/>
          <p:cNvSpPr/>
          <p:nvPr/>
        </p:nvSpPr>
        <p:spPr>
          <a:xfrm>
            <a:off x="8351215" y="1600200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Column 3 icon" descr="Limitations and fix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655" y="1691640"/>
            <a:ext cx="237744" cy="237744"/>
          </a:xfrm>
          <a:prstGeom prst="rect">
            <a:avLst/>
          </a:prstGeom>
        </p:spPr>
      </p:pic>
      <p:sp>
        <p:nvSpPr>
          <p:cNvPr id="18" name="Column 3 heading"/>
          <p:cNvSpPr txBox="1"/>
          <p:nvPr/>
        </p:nvSpPr>
        <p:spPr>
          <a:xfrm>
            <a:off x="8899855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 and fixes</a:t>
            </a:r>
            <a:endParaRPr lang="en-US" sz="1800" dirty="0"/>
          </a:p>
        </p:txBody>
      </p:sp>
      <p:sp>
        <p:nvSpPr>
          <p:cNvPr id="19" name="Column bullets 3"/>
          <p:cNvSpPr txBox="1"/>
          <p:nvPr/>
        </p:nvSpPr>
        <p:spPr>
          <a:xfrm>
            <a:off x="8378647" y="21945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voltage sensing → add a ZMPT101B and main relay.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Slower mechanical relays → use solid-state relays.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backup fuse → add an inline fuse or small MCB.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Shared relay board → four separate 1-channel modules.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SMS depends on coverage → add Wi-Fi/IoT alerts.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Manual reset only → add auto-reset with a lockout counter.</a:t>
            </a:r>
            <a:endParaRPr lang="en-US" sz="1500" dirty="0"/>
          </a:p>
        </p:txBody>
      </p:sp>
      <p:sp>
        <p:nvSpPr>
          <p:cNvPr id="20" name="Takeaway banner"/>
          <p:cNvSpPr/>
          <p:nvPr/>
        </p:nvSpPr>
        <p:spPr>
          <a:xfrm>
            <a:off x="457200" y="5715000"/>
            <a:ext cx="1127729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1" name="Takeaway text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It is not a replacement for certified industrial relays, MCBs or RCCBs; it is a low-cost, scalable protection prototype.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Comparison and Result Discussion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4107485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41074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5 — Tausif Naim Jami (20220105245)</a:t>
            </a:r>
            <a:endParaRPr lang="en-US" sz="13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474720"/>
                <a:gridCol w="28620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Fuse / MCB only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Arduino load-wise prototype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Industrial protection relay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Fault isolation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Disconnects the protected circuit; limited indication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Trips only the faulty branch; healthy branches stay 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Selective tripping with certified protection elements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Monitoring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continuous digital measurement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Arduino reads branch current through four ACS712-5A sensors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Accurate metering, event logs and communication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Notification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Manual observation needed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SMS through a GSM module, plus on-board LCD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SCADA or protocol alarm integration possible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Cost and complexity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 cost, simple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 cost, moderate complexity; ideal for education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Higher cost; reliable and standards-based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Observed card"/>
          <p:cNvSpPr/>
          <p:nvPr/>
        </p:nvSpPr>
        <p:spPr>
          <a:xfrm>
            <a:off x="457200" y="4114800"/>
            <a:ext cx="676656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Observed icon bg"/>
          <p:cNvSpPr/>
          <p:nvPr/>
        </p:nvSpPr>
        <p:spPr>
          <a:xfrm>
            <a:off x="68580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Observed icon" descr="Observed demonstration behavi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0"/>
            <a:ext cx="237744" cy="237744"/>
          </a:xfrm>
          <a:prstGeom prst="rect">
            <a:avLst/>
          </a:prstGeom>
        </p:spPr>
      </p:pic>
      <p:sp>
        <p:nvSpPr>
          <p:cNvPr id="9" name="Observed heading"/>
          <p:cNvSpPr txBox="1"/>
          <p:nvPr/>
        </p:nvSpPr>
        <p:spPr>
          <a:xfrm>
            <a:off x="1234440" y="4279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Observed demonstration behaviour</a:t>
            </a:r>
            <a:endParaRPr lang="en-US" sz="1800" dirty="0"/>
          </a:p>
        </p:txBody>
      </p:sp>
      <p:sp>
        <p:nvSpPr>
          <p:cNvPr id="10" name="Observed bullets"/>
          <p:cNvSpPr txBox="1"/>
          <p:nvPr/>
        </p:nvSpPr>
        <p:spPr>
          <a:xfrm>
            <a:off x="731520" y="48006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 only Switch A closed, all four branches ran together and each current reading tracked its load.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Closing Switch B in one branch made its sensor register the rise, and only that relay opened.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trip produced an SMS naming the branch and a fault message on the LCD.</a:t>
            </a:r>
            <a:endParaRPr lang="en-US" sz="1400" dirty="0"/>
          </a:p>
        </p:txBody>
      </p:sp>
      <p:sp>
        <p:nvSpPr>
          <p:cNvPr id="11" name="Result card"/>
          <p:cNvSpPr/>
          <p:nvPr/>
        </p:nvSpPr>
        <p:spPr>
          <a:xfrm>
            <a:off x="7406640" y="4114800"/>
            <a:ext cx="4325112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Result icon bg"/>
          <p:cNvSpPr/>
          <p:nvPr/>
        </p:nvSpPr>
        <p:spPr>
          <a:xfrm>
            <a:off x="7635240" y="4297680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esult icon" descr="Result state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389120"/>
            <a:ext cx="237744" cy="237744"/>
          </a:xfrm>
          <a:prstGeom prst="rect">
            <a:avLst/>
          </a:prstGeom>
        </p:spPr>
      </p:pic>
      <p:sp>
        <p:nvSpPr>
          <p:cNvPr id="14" name="Result heading"/>
          <p:cNvSpPr txBox="1"/>
          <p:nvPr/>
        </p:nvSpPr>
        <p:spPr>
          <a:xfrm>
            <a:off x="8183880" y="4279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 statement</a:t>
            </a:r>
            <a:endParaRPr lang="en-US" sz="1800" dirty="0"/>
          </a:p>
        </p:txBody>
      </p:sp>
      <p:sp>
        <p:nvSpPr>
          <p:cNvPr id="15" name="Result text"/>
          <p:cNvSpPr txBox="1"/>
          <p:nvPr/>
        </p:nvSpPr>
        <p:spPr>
          <a:xfrm>
            <a:off x="7680960" y="480060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proof-of-concept protection trainer. The result is the sequence: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sensing → decision → selective trip → LCD and SMS → healthy branches continue.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No numerical trip current or timing is claimed.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and Key Takeaways</a:t>
            </a:r>
            <a:endParaRPr lang="en-US" sz="2800" dirty="0"/>
          </a:p>
        </p:txBody>
      </p:sp>
      <p:sp>
        <p:nvSpPr>
          <p:cNvPr id="3" name="Presenter chip"/>
          <p:cNvSpPr/>
          <p:nvPr/>
        </p:nvSpPr>
        <p:spPr>
          <a:xfrm>
            <a:off x="457200" y="932688"/>
            <a:ext cx="4107485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Presenter label"/>
          <p:cNvSpPr txBox="1"/>
          <p:nvPr/>
        </p:nvSpPr>
        <p:spPr>
          <a:xfrm>
            <a:off x="457200" y="932688"/>
            <a:ext cx="41074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Presenter 5 — Tausif Naim Jami (20220105245)</a:t>
            </a:r>
            <a:endParaRPr lang="en-US" sz="1300" dirty="0"/>
          </a:p>
        </p:txBody>
      </p:sp>
      <p:sp>
        <p:nvSpPr>
          <p:cNvPr id="5" name="Conclusion card"/>
          <p:cNvSpPr/>
          <p:nvPr/>
        </p:nvSpPr>
        <p:spPr>
          <a:xfrm>
            <a:off x="457200" y="1417320"/>
            <a:ext cx="676656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onclusion icon bg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onclusion icon" descr="Final engineering conclu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37744" cy="237744"/>
          </a:xfrm>
          <a:prstGeom prst="rect">
            <a:avLst/>
          </a:prstGeom>
        </p:spPr>
      </p:pic>
      <p:sp>
        <p:nvSpPr>
          <p:cNvPr id="8" name="Conclusion heading"/>
          <p:cNvSpPr txBox="1"/>
          <p:nvPr/>
        </p:nvSpPr>
        <p:spPr>
          <a:xfrm>
            <a:off x="123444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Final engineering conclusion</a:t>
            </a:r>
            <a:endParaRPr lang="en-US" sz="1800" dirty="0"/>
          </a:p>
        </p:txBody>
      </p:sp>
      <p:sp>
        <p:nvSpPr>
          <p:cNvPr id="9" name="Conclusion bullets"/>
          <p:cNvSpPr txBox="1"/>
          <p:nvPr/>
        </p:nvSpPr>
        <p:spPr>
          <a:xfrm>
            <a:off x="731520" y="21488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Low-cost, Arduino-based protection can isolate only the faulty branch while healthy branches keep running.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Four ACS712-5A sensors, a 4-channel relay module, GSM SMS alerts and an LCD work together in one prototype.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Testing confirmed load-wise isolation with local (LCD) and remote (SMS) notification, a stepping stone toward smarter distribution boards.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 built, there is no voltage sensing, so protection covers current-based faults only.</a:t>
            </a:r>
            <a:endParaRPr lang="en-US" sz="1500" dirty="0"/>
          </a:p>
        </p:txBody>
      </p:sp>
      <p:sp>
        <p:nvSpPr>
          <p:cNvPr id="10" name="Future card"/>
          <p:cNvSpPr/>
          <p:nvPr/>
        </p:nvSpPr>
        <p:spPr>
          <a:xfrm>
            <a:off x="457200" y="4617720"/>
            <a:ext cx="676656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Future icon bg"/>
          <p:cNvSpPr/>
          <p:nvPr/>
        </p:nvSpPr>
        <p:spPr>
          <a:xfrm>
            <a:off x="685800" y="4800600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Future icon" descr="Future improve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892040"/>
            <a:ext cx="237744" cy="237744"/>
          </a:xfrm>
          <a:prstGeom prst="rect">
            <a:avLst/>
          </a:prstGeom>
        </p:spPr>
      </p:pic>
      <p:sp>
        <p:nvSpPr>
          <p:cNvPr id="13" name="Future heading"/>
          <p:cNvSpPr txBox="1"/>
          <p:nvPr/>
        </p:nvSpPr>
        <p:spPr>
          <a:xfrm>
            <a:off x="1234440" y="4782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Future improvements</a:t>
            </a:r>
            <a:endParaRPr lang="en-US" sz="1800" dirty="0"/>
          </a:p>
        </p:txBody>
      </p:sp>
      <p:sp>
        <p:nvSpPr>
          <p:cNvPr id="14" name="Future left"/>
          <p:cNvSpPr txBox="1"/>
          <p:nvPr/>
        </p:nvSpPr>
        <p:spPr>
          <a:xfrm>
            <a:off x="73152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Voltage sensing and main relay (ZMPT101B)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Solid-state relays for faster tripping</a:t>
            </a:r>
            <a:endParaRPr lang="en-US" sz="1400" dirty="0"/>
          </a:p>
        </p:txBody>
      </p:sp>
      <p:sp>
        <p:nvSpPr>
          <p:cNvPr id="15" name="Future right"/>
          <p:cNvSpPr txBox="1"/>
          <p:nvPr/>
        </p:nvSpPr>
        <p:spPr>
          <a:xfrm>
            <a:off x="393192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Auto-reset with retry and lockout counter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Wi-Fi/IoT backup notification</a:t>
            </a:r>
            <a:endParaRPr lang="en-US" sz="1400" dirty="0"/>
          </a:p>
        </p:txBody>
      </p:sp>
      <p:sp>
        <p:nvSpPr>
          <p:cNvPr id="16" name="Takeaways card"/>
          <p:cNvSpPr/>
          <p:nvPr/>
        </p:nvSpPr>
        <p:spPr>
          <a:xfrm>
            <a:off x="7406640" y="1417320"/>
            <a:ext cx="4325112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akeaways icon bg"/>
          <p:cNvSpPr/>
          <p:nvPr/>
        </p:nvSpPr>
        <p:spPr>
          <a:xfrm>
            <a:off x="7635240" y="160020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Takeaways icon" descr="Key takeaway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91640"/>
            <a:ext cx="237744" cy="237744"/>
          </a:xfrm>
          <a:prstGeom prst="rect">
            <a:avLst/>
          </a:prstGeom>
        </p:spPr>
      </p:pic>
      <p:sp>
        <p:nvSpPr>
          <p:cNvPr id="19" name="Takeaways heading"/>
          <p:cNvSpPr txBox="1"/>
          <p:nvPr/>
        </p:nvSpPr>
        <p:spPr>
          <a:xfrm>
            <a:off x="8183880" y="1581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20" name="Takeaway bullets"/>
          <p:cNvSpPr txBox="1"/>
          <p:nvPr/>
        </p:nvSpPr>
        <p:spPr>
          <a:xfrm>
            <a:off x="7680960" y="2148840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Selective isolation keeps healthy loads ON.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Per-branch current sensing detects overload and short-circuit faults.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Arduino makes the decision but does not replace certified protection devices.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Calibration and safe wiring are essential.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Best presented as an educational protection prototype.</a:t>
            </a:r>
            <a:endParaRPr lang="en-US" sz="1400" dirty="0"/>
          </a:p>
        </p:txBody>
      </p:sp>
      <p:sp>
        <p:nvSpPr>
          <p:cNvPr id="21" name="Thank you card"/>
          <p:cNvSpPr/>
          <p:nvPr/>
        </p:nvSpPr>
        <p:spPr>
          <a:xfrm>
            <a:off x="7406640" y="4617720"/>
            <a:ext cx="4325112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hank you"/>
          <p:cNvSpPr txBox="1"/>
          <p:nvPr/>
        </p:nvSpPr>
        <p:spPr>
          <a:xfrm>
            <a:off x="7680960" y="47548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Thank you</a:t>
            </a:r>
            <a:endParaRPr lang="en-US" sz="3200" dirty="0"/>
          </a:p>
        </p:txBody>
      </p:sp>
      <p:sp>
        <p:nvSpPr>
          <p:cNvPr id="23" name="Questions"/>
          <p:cNvSpPr txBox="1"/>
          <p:nvPr/>
        </p:nvSpPr>
        <p:spPr>
          <a:xfrm>
            <a:off x="7680960" y="5349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Questions are welcome.</a:t>
            </a:r>
            <a:endParaRPr lang="en-US" sz="1800" dirty="0"/>
          </a:p>
        </p:txBody>
      </p:sp>
      <p:sp>
        <p:nvSpPr>
          <p:cNvPr id="24" name="Prepared for"/>
          <p:cNvSpPr txBox="1"/>
          <p:nvPr/>
        </p:nvSpPr>
        <p:spPr>
          <a:xfrm>
            <a:off x="7680960" y="5760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Prepared for EEE 4252 Power System Protection 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ST Protection Lab">
  <a:themeElements>
    <a:clrScheme name="AUST Protection Lab">
      <a:dk1>
        <a:srgbClr val="1B2430"/>
      </a:dk1>
      <a:lt1>
        <a:srgbClr val="FFFFFF"/>
      </a:lt1>
      <a:dk2>
        <a:srgbClr val="0F2A47"/>
      </a:dk2>
      <a:lt2>
        <a:srgbClr val="EEF2F7"/>
      </a:lt2>
      <a:accent1>
        <a:srgbClr val="1F4E79"/>
      </a:accent1>
      <a:accent2>
        <a:srgbClr val="1F7A5C"/>
      </a:accent2>
      <a:accent3>
        <a:srgbClr val="C0392B"/>
      </a:accent3>
      <a:accent4>
        <a:srgbClr val="D98E04"/>
      </a:accent4>
      <a:accent5>
        <a:srgbClr val="5B6B7F"/>
      </a:accent5>
      <a:accent6>
        <a:srgbClr val="BFD7EA"/>
      </a:accent6>
      <a:hlink>
        <a:srgbClr val="1F4E79"/>
      </a:hlink>
      <a:folHlink>
        <a:srgbClr val="5B6B7F"/>
      </a:folHlink>
    </a:clrScheme>
    <a:fontScheme name="AUST Protection 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Multi-Protection System: Load-wise Fault Isolation</dc:title>
  <dc:subject>PptxGenJS Presentation</dc:subject>
  <dc:creator>EEE 4252 Project Team</dc:creator>
  <cp:lastModifiedBy>EEE 4252 Project Team</cp:lastModifiedBy>
  <cp:revision>1</cp:revision>
  <dcterms:created xsi:type="dcterms:W3CDTF">2026-10-03T15:31:35Z</dcterms:created>
  <dcterms:modified xsi:type="dcterms:W3CDTF">2026-10-03T15:31:35Z</dcterms:modified>
</cp:coreProperties>
</file>